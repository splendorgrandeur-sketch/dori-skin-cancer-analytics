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Adults
(60–77)</c:v>
                  </c:pt>
                  <c:pt idx="1">
                    <c:v>Middle-Aged
(42–59)</c:v>
                  </c:pt>
                  <c:pt idx="2">
                    <c:v>Elderly
(78–94)</c:v>
                  </c:pt>
                  <c:pt idx="3">
                    <c:v>Young Adults
(24–41)</c:v>
                  </c:pt>
                  <c:pt idx="4">
                    <c:v>Children/YA
(6–23)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</c:v>
                </c:pt>
                <c:pt idx="1">
                  <c:v>83</c:v>
                </c:pt>
                <c:pt idx="2">
                  <c:v>29</c:v>
                </c:pt>
                <c:pt idx="3">
                  <c:v>12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4F6C"/>
              </a:solidFill>
              <a:effectLst/>
            </c:spPr>
          </c:dPt>
          <c:dPt>
            <c:idx val="1"/>
            <c:bubble3D val="0"/>
            <c:spPr>
              <a:solidFill>
                <a:srgbClr val="5FA8D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 (726)</c:v>
                </c:pt>
                <c:pt idx="1">
                  <c:v>Female (362)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726</c:v>
                </c:pt>
                <c:pt idx="1">
                  <c:v>362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Malignant rate %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B4F6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B4F6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B4F6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B4F6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B4F6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B4F6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B4F6C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B4F6C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Nose</c:v>
                  </c:pt>
                  <c:pt idx="1">
                    <c:v>Lip</c:v>
                  </c:pt>
                  <c:pt idx="2">
                    <c:v>Neck</c:v>
                  </c:pt>
                  <c:pt idx="3">
                    <c:v>Ear</c:v>
                  </c:pt>
                  <c:pt idx="4">
                    <c:v>Chest</c:v>
                  </c:pt>
                  <c:pt idx="5">
                    <c:v>Face</c:v>
                  </c:pt>
                  <c:pt idx="6">
                    <c:v>Back</c:v>
                  </c:pt>
                  <c:pt idx="7">
                    <c:v>Thigh</c:v>
                  </c:pt>
                  <c:pt idx="8">
                    <c:v>Arm</c:v>
                  </c:pt>
                  <c:pt idx="9">
                    <c:v>Hand</c:v>
                  </c:pt>
                  <c:pt idx="10">
                    <c:v>Forearm</c:v>
                  </c:pt>
                  <c:pt idx="11">
                    <c:v>Abdomen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69.1</c:v>
                </c:pt>
                <c:pt idx="1">
                  <c:v>57.1</c:v>
                </c:pt>
                <c:pt idx="2">
                  <c:v>54.1</c:v>
                </c:pt>
                <c:pt idx="3">
                  <c:v>53.1</c:v>
                </c:pt>
                <c:pt idx="4">
                  <c:v>41.9</c:v>
                </c:pt>
                <c:pt idx="5">
                  <c:v>36.7</c:v>
                </c:pt>
                <c:pt idx="6">
                  <c:v>36.2</c:v>
                </c:pt>
                <c:pt idx="7">
                  <c:v>25.7</c:v>
                </c:pt>
                <c:pt idx="8">
                  <c:v>25</c:v>
                </c:pt>
                <c:pt idx="9">
                  <c:v>12.7</c:v>
                </c:pt>
                <c:pt idx="10">
                  <c:v>11.4</c:v>
                </c:pt>
                <c:pt idx="11">
                  <c:v>10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4F6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FA8D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FA8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ACK
(pre-cancerous)</c:v>
                  </c:pt>
                  <c:pt idx="1">
                    <c:v>BCC
(malignant)</c:v>
                  </c:pt>
                  <c:pt idx="2">
                    <c:v>NEV
(benign)</c:v>
                  </c:pt>
                  <c:pt idx="3">
                    <c:v>SEK
(benign)</c:v>
                  </c:pt>
                  <c:pt idx="4">
                    <c:v>SCC
(malignant)</c:v>
                  </c:pt>
                  <c:pt idx="5">
                    <c:v>MEL
(malignant)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461</c:v>
                </c:pt>
                <c:pt idx="1">
                  <c:v>273</c:v>
                </c:pt>
                <c:pt idx="2">
                  <c:v>144</c:v>
                </c:pt>
                <c:pt idx="3">
                  <c:v>137</c:v>
                </c:pt>
                <c:pt idx="4">
                  <c:v>56</c:v>
                </c:pt>
                <c:pt idx="5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lesions</c:v>
                </c:pt>
              </c:strCache>
            </c:strRef>
          </c:tx>
          <c:spPr>
            <a:solidFill>
              <a:srgbClr val="5FA8D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Itch</c:v>
                  </c:pt>
                  <c:pt idx="1">
                    <c:v>Elevation</c:v>
                  </c:pt>
                  <c:pt idx="2">
                    <c:v>Bleed</c:v>
                  </c:pt>
                  <c:pt idx="3">
                    <c:v>Hurt</c:v>
                  </c:pt>
                  <c:pt idx="4">
                    <c:v>Changed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61.6</c:v>
                </c:pt>
                <c:pt idx="1">
                  <c:v>56.2</c:v>
                </c:pt>
                <c:pt idx="2">
                  <c:v>20.4</c:v>
                </c:pt>
                <c:pt idx="3">
                  <c:v>13.9</c:v>
                </c:pt>
                <c:pt idx="4">
                  <c:v>9.1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diameter (mm)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FA8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B4F6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B4F6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MEL
(malignant)</c:v>
                  </c:pt>
                  <c:pt idx="1">
                    <c:v>SCC
(malignant)</c:v>
                  </c:pt>
                  <c:pt idx="2">
                    <c:v>BCC
(malignant)</c:v>
                  </c:pt>
                  <c:pt idx="3">
                    <c:v>ACK
(pre-cancerous)</c:v>
                  </c:pt>
                  <c:pt idx="4">
                    <c:v>SEK
(benign)</c:v>
                  </c:pt>
                  <c:pt idx="5">
                    <c:v>NEV
(benign)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14.09</c:v>
                </c:pt>
                <c:pt idx="1">
                  <c:v>10.46</c:v>
                </c:pt>
                <c:pt idx="2">
                  <c:v>9.97</c:v>
                </c:pt>
                <c:pt idx="3">
                  <c:v>2.62</c:v>
                </c:pt>
                <c:pt idx="4">
                  <c:v>0.8</c:v>
                </c:pt>
                <c:pt idx="5">
                  <c:v>0.67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Malignant rate %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4F6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Adequate Sanitation
(n=262)</c:v>
                  </c:pt>
                  <c:pt idx="1">
                    <c:v>Poor Sanitation
(n=826)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61.8</c:v>
                </c:pt>
                <c:pt idx="1">
                  <c:v>22.3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Malignant rate %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4F6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Smokers &amp; Drinkers
(n=28)</c:v>
                  </c:pt>
                  <c:pt idx="1">
                    <c:v>Smokers Only
(n=34)</c:v>
                  </c:pt>
                  <c:pt idx="2">
                    <c:v>Drinkers Only
(n=110)</c:v>
                  </c:pt>
                  <c:pt idx="3">
                    <c:v>Neither
(n=916)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82.1</c:v>
                </c:pt>
                <c:pt idx="1">
                  <c:v>70.6</c:v>
                </c:pt>
                <c:pt idx="2">
                  <c:v>68.2</c:v>
                </c:pt>
                <c:pt idx="3">
                  <c:v>24.5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F5F8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D577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CANCER ANALYTICS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Risk Patterns &amp; Clinical Insights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review of 1,088 diagnosed lesion records — demographics, clinical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presentation, environmental context, and lifestyle risk factors.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 · Dermalife Oncology &amp; Research Institute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headline findings from the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39696" cy="3520440"/>
          </a:xfrm>
          <a:prstGeom prst="roundRect">
            <a:avLst>
              <a:gd name="adj" fmla="val 3419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2880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186537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 lesions are malignant — the highest rate of any body region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52928" y="1508760"/>
            <a:ext cx="2139696" cy="3520440"/>
          </a:xfrm>
          <a:prstGeom prst="roundRect">
            <a:avLst>
              <a:gd name="adj" fmla="val 3419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90088" y="182880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990088" y="2743200"/>
            <a:ext cx="186537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 rate among patients who both smoke &amp; drink, vs. 24% baseline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57216" y="1508760"/>
            <a:ext cx="2139696" cy="3520440"/>
          </a:xfrm>
          <a:prstGeom prst="roundRect">
            <a:avLst>
              <a:gd name="adj" fmla="val 3419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94376" y="182880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294376" y="2743200"/>
            <a:ext cx="186537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lesions were actively growing at time of record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61504" y="1508760"/>
            <a:ext cx="2139696" cy="3520440"/>
          </a:xfrm>
          <a:prstGeom prst="roundRect">
            <a:avLst>
              <a:gd name="adj" fmla="val 3419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98664" y="182880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598664" y="2743200"/>
            <a:ext cx="186537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lesions presented with itching — the most common early symptom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765792" y="1508760"/>
            <a:ext cx="2139696" cy="3520440"/>
          </a:xfrm>
          <a:prstGeom prst="roundRect">
            <a:avLst>
              <a:gd name="adj" fmla="val 3419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02952" y="182880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902952" y="2743200"/>
            <a:ext cx="186537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lack piped water access; 75% lack sewage access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0B4F6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1,088 diagnosed lesion records  ·  224 patients with prior skin cancer history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 — Dermalife Oncology &amp; Research Institute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Most Affected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gender distribution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cancer history by age group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45920"/>
          <a:ext cx="55778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share by gender</a:t>
            </a:r>
            <a:endParaRPr lang="en-US" sz="12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675120" y="1691640"/>
          <a:ext cx="45720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5262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7F9FA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(60–77) and Middle-Aged Adults (42–59) together account for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all skin cancer history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(179 of 224 patients). Male patients make up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of all diagnoses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roughly a 2:1 ratio over female patients.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 — Dermalife Oncology &amp; Research Institute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Strikes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Malignancy rate by body region — rate, not just raw count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58952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280160"/>
            <a:ext cx="3291840" cy="4709160"/>
          </a:xfrm>
          <a:prstGeom prst="roundRect">
            <a:avLst>
              <a:gd name="adj" fmla="val 2222"/>
            </a:avLst>
          </a:prstGeom>
          <a:solidFill>
            <a:srgbClr val="0B4F6C"/>
          </a:solidFill>
          <a:ln/>
        </p:spPr>
      </p:sp>
      <p:sp>
        <p:nvSpPr>
          <p:cNvPr id="6" name="Text 3"/>
          <p:cNvSpPr/>
          <p:nvPr/>
        </p:nvSpPr>
        <p:spPr>
          <a:xfrm>
            <a:off x="8595360" y="1508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95360" y="18288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Face has the most malignant cases in raw count (102), but the Nose has the highest malignancy rate at 69%.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95360" y="34290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risk aren’t the same thing — screening priority should weight rate, not just case count.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95360" y="489204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 and Lip also have the highest biopsy rates (79% and 86%), consistent with elevated clinical suspicion.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 — Dermalife Oncology &amp; Research Institute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Presents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frequency &amp; reported symptoms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frequency (all lesions)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45920"/>
          <a:ext cx="55778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symptoms (% of lesions)</a:t>
            </a:r>
            <a:endParaRPr lang="en-US" sz="12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9360" y="164592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7091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7F9FA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4892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Itching and elevation — not bleeding — are the dominant early symptoms in this population.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lesions (458) were biopsied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47% (510) were reported as actively growing.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 — Dermalife Oncology &amp; Research Institute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as a Severity Signal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lesion diameter (mm) at diagnosis, by type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704088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325880"/>
            <a:ext cx="3749040" cy="4617720"/>
          </a:xfrm>
          <a:prstGeom prst="roundRect">
            <a:avLst>
              <a:gd name="adj" fmla="val 1951"/>
            </a:avLst>
          </a:prstGeom>
          <a:solidFill>
            <a:srgbClr val="0B4F6C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38160" y="1920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14.1mm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138160" y="2697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diameter of melanoma (MEL) lesions at diagnosis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38160" y="35204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over 5x the average size of benign nevus lesions (0.67mm) and nearly 2x benign keratosis (0.80mm).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138160" y="4846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 alone is a meaningful, low-effort triage signal for prioritizing review.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 — Dermalife Oncology &amp; Research Institute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Context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Sanitation access and a finding worth investigating further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7F9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(782) lack piped water access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0" y="14173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7F9FA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15544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25196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(815) lack sewage system access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14173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7F9FA"/>
          </a:solidFill>
          <a:ln/>
        </p:spPr>
      </p:sp>
      <p:sp>
        <p:nvSpPr>
          <p:cNvPr id="11" name="Text 9"/>
          <p:cNvSpPr/>
          <p:nvPr/>
        </p:nvSpPr>
        <p:spPr>
          <a:xfrm>
            <a:off x="7726680" y="15544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71.9%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2668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full patient population lacks basic infrastructure access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 rate by sanitation status</a:t>
            </a:r>
            <a:endParaRPr lang="en-US" sz="12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3383280"/>
          <a:ext cx="55778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6400800" y="338328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0B4F6C"/>
          </a:solidFill>
          <a:ln/>
        </p:spPr>
      </p:sp>
      <p:sp>
        <p:nvSpPr>
          <p:cNvPr id="16" name="Text 13"/>
          <p:cNvSpPr/>
          <p:nvPr/>
        </p:nvSpPr>
        <p:spPr>
          <a:xfrm>
            <a:off x="6675120" y="3566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COUNTERINTUITIVE — INVESTIGATE FURTHER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675120" y="38862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adequate sanitation show a higher malignant rate (61.8%) than patients with poor sanitation (22.3%) — the opposite of what a simple deprivation model would predict.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675120" y="51663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explanation: detection bias, not biology — patients with better infrastructure likely also have better healthcare access, so a larger share of their diagnoses get confirmed as malignant. Should be validated against clinic-access data before any public claim.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 — Dermalife Oncology &amp; Research Institute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Lifestyle Risk Factors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effect of smoking and drinking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68580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280160"/>
            <a:ext cx="4023360" cy="4754880"/>
          </a:xfrm>
          <a:prstGeom prst="roundRect">
            <a:avLst>
              <a:gd name="adj" fmla="val 1818"/>
            </a:avLst>
          </a:prstGeom>
          <a:solidFill>
            <a:srgbClr val="0B4F6C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508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3.4x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863840" y="23774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malignant rate for patients who both smoke and drink, vs. patients with neither habit (82.1% vs. 24.5%)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0" y="3520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62 smokers in the dataset, 45% also drink regularly — a meaningful overlap group.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4389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Individually, each risk factor tested runs close to 3x the “neither” baseline: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63840" y="48463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Smoking: 75.8%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Alcohol: 71.0%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Pesticide exposure: 70.0%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cancer history: 68.8%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 — Dermalife Oncology &amp; Research Institute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findings with the following caveats in mind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lifestyle subgroups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0" y="146304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28 patients fall into the smoker+drinker group. Rates from small groups swing more with individual cases — treat as directional, not definitive.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3591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Association, not causation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14800" y="2359152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controls for age, sun exposure, or skin type. The sanitation finding especially should be read as a detection-bias hypothesis, not a causal claim.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4F6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25526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bias likely runs throughout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14800" y="3255264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who are diagnosed have already passed through some point of healthcare access — this shapes every cut of the data, not just the sanitation one.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970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4F6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15137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counts mix lesion &amp; patient level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114800" y="4151376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with multiple lesions on the same region is counted multiple times, so “case count” isn’t the same as “patient count.”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93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4F6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093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Single-population dataset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114800" y="50474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one regional population (PAD-UFES-20, Brazil). Useful for internal analytics, but shouldn’t be generalized globally without validation.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 — Dermalife Oncology &amp; Research Institute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DORI can act on this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0F5F82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64208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276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Nose &amp; Lip in screening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34440" y="208483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lower case volume, these regions carry the highest malignancy rate — 69% and 57% respectively.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0F5F82"/>
          </a:solidFill>
          <a:ln/>
        </p:spPr>
      </p:sp>
      <p:sp>
        <p:nvSpPr>
          <p:cNvPr id="10" name="Shape 8"/>
          <p:cNvSpPr/>
          <p:nvPr/>
        </p:nvSpPr>
        <p:spPr>
          <a:xfrm>
            <a:off x="6464808" y="1664208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664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16276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patient self-checks with itch &amp; elevation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49440" y="208483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most common early symptoms in this population — ahead of the more commonly assumed “bleeding” red flag.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0F5F82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218688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218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18211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combined smokers &amp; drinkers for counseling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34440" y="363931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subgroup shows an 82% malignant rate, 3.4x the baseline — the clearest actionable message for patient education.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0175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0F5F82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4808" y="3218688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3218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318211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sanitation finding before publishing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49440" y="363931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it with clinic-access/visit-frequency data to confirm the detection-bias explanation before using it in any external claim.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0F5F82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773168"/>
            <a:ext cx="365760" cy="3657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773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7365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age-adjusted follow-up analysis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34440" y="51937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likely confounds both the smoking/drinking and sanitation results — needed before finalizing any lifestyle risk claims.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 — Dermalife Oncology &amp; Research Institute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F5F82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200400" cy="3200400"/>
          </a:xfrm>
          <a:prstGeom prst="ellipse">
            <a:avLst/>
          </a:prstGeom>
          <a:solidFill>
            <a:srgbClr val="0D57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 Skin Cancer Analytics — PostgreSQL analysis of the PAD-UFES-20 diagnostic 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Splendor · Data Analytics Capstone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2026-08-12T15:04:59Z</dcterms:created>
  <dcterms:modified xsi:type="dcterms:W3CDTF">2026-08-12T15:04:59Z</dcterms:modified>
</cp:coreProperties>
</file>